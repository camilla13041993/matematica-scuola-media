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3" r:id="rId4"/>
    <p:sldId id="264" r:id="rId5"/>
    <p:sldId id="262" r:id="rId6"/>
    <p:sldId id="260" r:id="rId7"/>
    <p:sldId id="258" r:id="rId8"/>
    <p:sldId id="265" r:id="rId9"/>
    <p:sldId id="259" r:id="rId10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60"/>
  </p:normalViewPr>
  <p:slideViewPr>
    <p:cSldViewPr snapToGrid="0">
      <p:cViewPr>
        <p:scale>
          <a:sx n="125" d="100"/>
          <a:sy n="125" d="100"/>
        </p:scale>
        <p:origin x="-92" y="-4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ACBF-0C0D-4653-AEF6-F37CFA666054}" type="datetimeFigureOut">
              <a:rPr lang="en-CH" smtClean="0"/>
              <a:t>05.05.2026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5634-44A6-4843-A5CC-A14F1A5E489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12556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ACBF-0C0D-4653-AEF6-F37CFA666054}" type="datetimeFigureOut">
              <a:rPr lang="en-CH" smtClean="0"/>
              <a:t>05.05.2026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5634-44A6-4843-A5CC-A14F1A5E489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04751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ACBF-0C0D-4653-AEF6-F37CFA666054}" type="datetimeFigureOut">
              <a:rPr lang="en-CH" smtClean="0"/>
              <a:t>05.05.2026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5634-44A6-4843-A5CC-A14F1A5E489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71998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ACBF-0C0D-4653-AEF6-F37CFA666054}" type="datetimeFigureOut">
              <a:rPr lang="en-CH" smtClean="0"/>
              <a:t>05.05.2026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5634-44A6-4843-A5CC-A14F1A5E489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9789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ACBF-0C0D-4653-AEF6-F37CFA666054}" type="datetimeFigureOut">
              <a:rPr lang="en-CH" smtClean="0"/>
              <a:t>05.05.2026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5634-44A6-4843-A5CC-A14F1A5E489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8968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ACBF-0C0D-4653-AEF6-F37CFA666054}" type="datetimeFigureOut">
              <a:rPr lang="en-CH" smtClean="0"/>
              <a:t>05.05.2026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5634-44A6-4843-A5CC-A14F1A5E489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9043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ACBF-0C0D-4653-AEF6-F37CFA666054}" type="datetimeFigureOut">
              <a:rPr lang="en-CH" smtClean="0"/>
              <a:t>05.05.2026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5634-44A6-4843-A5CC-A14F1A5E489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57320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ACBF-0C0D-4653-AEF6-F37CFA666054}" type="datetimeFigureOut">
              <a:rPr lang="en-CH" smtClean="0"/>
              <a:t>05.05.2026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5634-44A6-4843-A5CC-A14F1A5E489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45409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ACBF-0C0D-4653-AEF6-F37CFA666054}" type="datetimeFigureOut">
              <a:rPr lang="en-CH" smtClean="0"/>
              <a:t>05.05.2026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5634-44A6-4843-A5CC-A14F1A5E489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3034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ACBF-0C0D-4653-AEF6-F37CFA666054}" type="datetimeFigureOut">
              <a:rPr lang="en-CH" smtClean="0"/>
              <a:t>05.05.2026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5634-44A6-4843-A5CC-A14F1A5E489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535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ACBF-0C0D-4653-AEF6-F37CFA666054}" type="datetimeFigureOut">
              <a:rPr lang="en-CH" smtClean="0"/>
              <a:t>05.05.2026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5634-44A6-4843-A5CC-A14F1A5E489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4714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BFACBF-0C0D-4653-AEF6-F37CFA666054}" type="datetimeFigureOut">
              <a:rPr lang="en-CH" smtClean="0"/>
              <a:t>05.05.2026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25634-44A6-4843-A5CC-A14F1A5E489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65250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2E7DFA51-45E5-1A09-24A7-268AB401DFEF}"/>
              </a:ext>
            </a:extLst>
          </p:cNvPr>
          <p:cNvSpPr txBox="1">
            <a:spLocks/>
          </p:cNvSpPr>
          <p:nvPr/>
        </p:nvSpPr>
        <p:spPr>
          <a:xfrm>
            <a:off x="617791" y="21280"/>
            <a:ext cx="5915025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2000" b="1" dirty="0">
                <a:latin typeface="Dreaming Outloud Pro" panose="020F0502020204030204" pitchFamily="66" charset="0"/>
                <a:cs typeface="Dreaming Outloud Pro" panose="020F0502020204030204" pitchFamily="66" charset="0"/>
              </a:rPr>
              <a:t>Probabilità: introduzione</a:t>
            </a: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38B8A31D-F5BD-D1C4-596C-B71C8888CD4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575304" y="783280"/>
            <a:ext cx="2957512" cy="0"/>
          </a:xfrm>
          <a:prstGeom prst="line">
            <a:avLst/>
          </a:prstGeom>
          <a:effectLst>
            <a:reflection blurRad="6350" stA="50000" endA="300" endPos="90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2D0FF812-E231-258C-B15C-AF9C226A5129}"/>
              </a:ext>
            </a:extLst>
          </p:cNvPr>
          <p:cNvGrpSpPr/>
          <p:nvPr/>
        </p:nvGrpSpPr>
        <p:grpSpPr>
          <a:xfrm>
            <a:off x="-123824" y="1022060"/>
            <a:ext cx="7105648" cy="5602577"/>
            <a:chOff x="-123824" y="1022060"/>
            <a:chExt cx="7105648" cy="5602577"/>
          </a:xfrm>
        </p:grpSpPr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94980494-0564-930B-15F9-3BC1F154DA46}"/>
                </a:ext>
              </a:extLst>
            </p:cNvPr>
            <p:cNvSpPr txBox="1"/>
            <p:nvPr/>
          </p:nvSpPr>
          <p:spPr>
            <a:xfrm>
              <a:off x="617791" y="1022060"/>
              <a:ext cx="591502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it-IT" sz="1400" dirty="0"/>
                <a:t>Hai tre scatole di cui consoci il contenuto. Devi pescare una pallina GIALLA. </a:t>
              </a:r>
            </a:p>
            <a:p>
              <a:pPr>
                <a:buNone/>
              </a:pPr>
              <a:endParaRPr lang="it-IT" sz="1400" dirty="0"/>
            </a:p>
            <a:p>
              <a:pPr>
                <a:buNone/>
              </a:pPr>
              <a:r>
                <a:rPr lang="it-IT" sz="1400" dirty="0"/>
                <a:t>a. Da quale scatola ti conviene pescare?</a:t>
              </a:r>
            </a:p>
          </p:txBody>
        </p:sp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E80F1D44-E31F-4A35-2476-704D5903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317102"/>
              <a:ext cx="6858000" cy="3629263"/>
            </a:xfrm>
            <a:prstGeom prst="rect">
              <a:avLst/>
            </a:prstGeom>
          </p:spPr>
        </p:pic>
        <p:sp>
          <p:nvSpPr>
            <p:cNvPr id="13" name="Connettore 12">
              <a:extLst>
                <a:ext uri="{FF2B5EF4-FFF2-40B4-BE49-F238E27FC236}">
                  <a16:creationId xmlns:a16="http://schemas.microsoft.com/office/drawing/2014/main" id="{97D73BAF-E4CC-6C93-2EEE-F516F9D3A49C}"/>
                </a:ext>
              </a:extLst>
            </p:cNvPr>
            <p:cNvSpPr/>
            <p:nvPr/>
          </p:nvSpPr>
          <p:spPr>
            <a:xfrm>
              <a:off x="101346" y="1059832"/>
              <a:ext cx="447675" cy="447675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</a:t>
              </a:r>
              <a:endParaRPr lang="en-CH" dirty="0">
                <a:solidFill>
                  <a:schemeClr val="tx1"/>
                </a:solidFill>
              </a:endParaRPr>
            </a:p>
          </p:txBody>
        </p:sp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94A27DFB-3AC9-2361-4A36-81E690EAC332}"/>
                </a:ext>
              </a:extLst>
            </p:cNvPr>
            <p:cNvSpPr/>
            <p:nvPr/>
          </p:nvSpPr>
          <p:spPr>
            <a:xfrm>
              <a:off x="-123824" y="5438775"/>
              <a:ext cx="2390774" cy="1057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B36E4874-3C2A-B44C-FFE0-5963866CECCD}"/>
                </a:ext>
              </a:extLst>
            </p:cNvPr>
            <p:cNvSpPr/>
            <p:nvPr/>
          </p:nvSpPr>
          <p:spPr>
            <a:xfrm>
              <a:off x="4343399" y="5567362"/>
              <a:ext cx="2638425" cy="1057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</p:spTree>
    <p:extLst>
      <p:ext uri="{BB962C8B-B14F-4D97-AF65-F5344CB8AC3E}">
        <p14:creationId xmlns:p14="http://schemas.microsoft.com/office/powerpoint/2010/main" val="2044723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30C2-47A8-8523-DB08-CCE5A224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o 14">
            <a:extLst>
              <a:ext uri="{FF2B5EF4-FFF2-40B4-BE49-F238E27FC236}">
                <a16:creationId xmlns:a16="http://schemas.microsoft.com/office/drawing/2014/main" id="{2AEC7644-D371-F913-F048-8DD87F16ADAD}"/>
              </a:ext>
            </a:extLst>
          </p:cNvPr>
          <p:cNvGrpSpPr/>
          <p:nvPr/>
        </p:nvGrpSpPr>
        <p:grpSpPr>
          <a:xfrm>
            <a:off x="0" y="372877"/>
            <a:ext cx="6858000" cy="5096589"/>
            <a:chOff x="0" y="372877"/>
            <a:chExt cx="6858000" cy="5096589"/>
          </a:xfrm>
        </p:grpSpPr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523D9F36-702A-A155-5AC5-0FC8C2A3DFB0}"/>
                </a:ext>
              </a:extLst>
            </p:cNvPr>
            <p:cNvSpPr txBox="1"/>
            <p:nvPr/>
          </p:nvSpPr>
          <p:spPr>
            <a:xfrm>
              <a:off x="617791" y="372877"/>
              <a:ext cx="59150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it-IT" sz="1400" dirty="0"/>
                <a:t>b. E in questo caso, da quale scatola di conviene pescare? </a:t>
              </a:r>
            </a:p>
          </p:txBody>
        </p:sp>
        <p:grpSp>
          <p:nvGrpSpPr>
            <p:cNvPr id="7" name="Gruppo 6">
              <a:extLst>
                <a:ext uri="{FF2B5EF4-FFF2-40B4-BE49-F238E27FC236}">
                  <a16:creationId xmlns:a16="http://schemas.microsoft.com/office/drawing/2014/main" id="{071EE122-61B3-B270-4673-7DBD690A79D9}"/>
                </a:ext>
              </a:extLst>
            </p:cNvPr>
            <p:cNvGrpSpPr/>
            <p:nvPr/>
          </p:nvGrpSpPr>
          <p:grpSpPr>
            <a:xfrm>
              <a:off x="0" y="1501905"/>
              <a:ext cx="6858000" cy="3730361"/>
              <a:chOff x="0" y="1501905"/>
              <a:chExt cx="6858000" cy="3730361"/>
            </a:xfrm>
          </p:grpSpPr>
          <p:pic>
            <p:nvPicPr>
              <p:cNvPr id="11" name="Immagine 10">
                <a:extLst>
                  <a:ext uri="{FF2B5EF4-FFF2-40B4-BE49-F238E27FC236}">
                    <a16:creationId xmlns:a16="http://schemas.microsoft.com/office/drawing/2014/main" id="{D0EDAB84-BD54-FBBF-0220-273113FBF6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501905"/>
                <a:ext cx="6858000" cy="3730361"/>
              </a:xfrm>
              <a:prstGeom prst="rect">
                <a:avLst/>
              </a:prstGeom>
            </p:spPr>
          </p:pic>
          <p:pic>
            <p:nvPicPr>
              <p:cNvPr id="2" name="Immagine 1">
                <a:extLst>
                  <a:ext uri="{FF2B5EF4-FFF2-40B4-BE49-F238E27FC236}">
                    <a16:creationId xmlns:a16="http://schemas.microsoft.com/office/drawing/2014/main" id="{E7D7033E-1861-CEBE-4C52-BB02DC4912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417" t="66214" r="88889" b="25871"/>
              <a:stretch/>
            </p:blipFill>
            <p:spPr>
              <a:xfrm>
                <a:off x="3724274" y="2828925"/>
                <a:ext cx="390525" cy="295275"/>
              </a:xfrm>
              <a:prstGeom prst="rect">
                <a:avLst/>
              </a:prstGeom>
            </p:spPr>
          </p:pic>
          <p:pic>
            <p:nvPicPr>
              <p:cNvPr id="3" name="Immagine 2">
                <a:extLst>
                  <a:ext uri="{FF2B5EF4-FFF2-40B4-BE49-F238E27FC236}">
                    <a16:creationId xmlns:a16="http://schemas.microsoft.com/office/drawing/2014/main" id="{3E3152E7-819D-2E68-1955-580FF3DCEB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362" t="40727" r="88314" b="50593"/>
              <a:stretch/>
            </p:blipFill>
            <p:spPr>
              <a:xfrm>
                <a:off x="436816" y="3933826"/>
                <a:ext cx="296609" cy="323850"/>
              </a:xfrm>
              <a:prstGeom prst="rect">
                <a:avLst/>
              </a:prstGeom>
            </p:spPr>
          </p:pic>
        </p:grpSp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C1572300-CBB1-AD07-B240-1A1C285673CF}"/>
                </a:ext>
              </a:extLst>
            </p:cNvPr>
            <p:cNvSpPr/>
            <p:nvPr/>
          </p:nvSpPr>
          <p:spPr>
            <a:xfrm>
              <a:off x="3572933" y="1744133"/>
              <a:ext cx="541866" cy="9482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B4B78B61-A4F3-845A-16B6-9656304A9090}"/>
                </a:ext>
              </a:extLst>
            </p:cNvPr>
            <p:cNvSpPr/>
            <p:nvPr/>
          </p:nvSpPr>
          <p:spPr>
            <a:xfrm>
              <a:off x="733425" y="4521199"/>
              <a:ext cx="541866" cy="9482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7EEC3E9E-6E3C-53B1-C4ED-93CE683B4DC0}"/>
                </a:ext>
              </a:extLst>
            </p:cNvPr>
            <p:cNvSpPr/>
            <p:nvPr/>
          </p:nvSpPr>
          <p:spPr>
            <a:xfrm>
              <a:off x="5046133" y="3539066"/>
              <a:ext cx="541866" cy="9482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</p:spTree>
    <p:extLst>
      <p:ext uri="{BB962C8B-B14F-4D97-AF65-F5344CB8AC3E}">
        <p14:creationId xmlns:p14="http://schemas.microsoft.com/office/powerpoint/2010/main" val="3459588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7C69-88E9-22C7-824D-2D6F32D34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o 4">
            <a:extLst>
              <a:ext uri="{FF2B5EF4-FFF2-40B4-BE49-F238E27FC236}">
                <a16:creationId xmlns:a16="http://schemas.microsoft.com/office/drawing/2014/main" id="{C7169A29-ED94-F62B-6C89-77A0BF4D1712}"/>
              </a:ext>
            </a:extLst>
          </p:cNvPr>
          <p:cNvGrpSpPr/>
          <p:nvPr/>
        </p:nvGrpSpPr>
        <p:grpSpPr>
          <a:xfrm>
            <a:off x="0" y="372877"/>
            <a:ext cx="6858000" cy="5130456"/>
            <a:chOff x="0" y="372877"/>
            <a:chExt cx="6858000" cy="5130456"/>
          </a:xfrm>
        </p:grpSpPr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FF315A6E-A2C2-47AF-4269-4581E71DF295}"/>
                </a:ext>
              </a:extLst>
            </p:cNvPr>
            <p:cNvSpPr txBox="1"/>
            <p:nvPr/>
          </p:nvSpPr>
          <p:spPr>
            <a:xfrm>
              <a:off x="617791" y="372877"/>
              <a:ext cx="59150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it-IT" sz="1400" dirty="0"/>
                <a:t>c. E in questo caso, da quale scatola di conviene pescare? </a:t>
              </a:r>
            </a:p>
          </p:txBody>
        </p:sp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A0279830-3DF5-018F-5AC4-54D715D61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501905"/>
              <a:ext cx="6858000" cy="3730361"/>
            </a:xfrm>
            <a:prstGeom prst="rect">
              <a:avLst/>
            </a:prstGeom>
          </p:spPr>
        </p:pic>
        <p:sp>
          <p:nvSpPr>
            <p:cNvPr id="2" name="Rettangolo 1">
              <a:extLst>
                <a:ext uri="{FF2B5EF4-FFF2-40B4-BE49-F238E27FC236}">
                  <a16:creationId xmlns:a16="http://schemas.microsoft.com/office/drawing/2014/main" id="{8A100EBF-3CE7-9A25-C312-66BA24EEB7BA}"/>
                </a:ext>
              </a:extLst>
            </p:cNvPr>
            <p:cNvSpPr/>
            <p:nvPr/>
          </p:nvSpPr>
          <p:spPr>
            <a:xfrm>
              <a:off x="3725333" y="1811867"/>
              <a:ext cx="355600" cy="9313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1B22E5FD-7D06-F03D-9464-5D948EC47D48}"/>
                </a:ext>
              </a:extLst>
            </p:cNvPr>
            <p:cNvSpPr/>
            <p:nvPr/>
          </p:nvSpPr>
          <p:spPr>
            <a:xfrm>
              <a:off x="812800" y="4572000"/>
              <a:ext cx="609600" cy="9313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7F1659AC-9605-30A5-43B4-382C0A65E9D3}"/>
                </a:ext>
              </a:extLst>
            </p:cNvPr>
            <p:cNvSpPr/>
            <p:nvPr/>
          </p:nvSpPr>
          <p:spPr>
            <a:xfrm>
              <a:off x="5079999" y="3367085"/>
              <a:ext cx="423334" cy="9313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</p:spTree>
    <p:extLst>
      <p:ext uri="{BB962C8B-B14F-4D97-AF65-F5344CB8AC3E}">
        <p14:creationId xmlns:p14="http://schemas.microsoft.com/office/powerpoint/2010/main" val="3555407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E46D4-CFC5-931D-C0F9-AD2559198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7391371A-17F6-DA47-6466-C75EEB642728}"/>
              </a:ext>
            </a:extLst>
          </p:cNvPr>
          <p:cNvSpPr txBox="1"/>
          <p:nvPr/>
        </p:nvSpPr>
        <p:spPr>
          <a:xfrm>
            <a:off x="433387" y="2274411"/>
            <a:ext cx="59531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La probabilità di un evento è il rapporto tra il numero dei casi favorevoli all'evento e il numero dei casi possibili.</a:t>
            </a:r>
            <a:endParaRPr lang="en-CH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19F0157-97F2-0063-6FF5-0E4DA14FA5CA}"/>
              </a:ext>
            </a:extLst>
          </p:cNvPr>
          <p:cNvSpPr txBox="1"/>
          <p:nvPr/>
        </p:nvSpPr>
        <p:spPr>
          <a:xfrm>
            <a:off x="323849" y="493236"/>
            <a:ext cx="59531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Un evento è il risultato che stai aspettando da un esperimento casuale.</a:t>
            </a:r>
            <a:endParaRPr lang="en-CH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E41FFF6-9E97-AFE7-3CE4-4DE716823ABA}"/>
              </a:ext>
            </a:extLst>
          </p:cNvPr>
          <p:cNvSpPr txBox="1"/>
          <p:nvPr/>
        </p:nvSpPr>
        <p:spPr>
          <a:xfrm>
            <a:off x="323848" y="1426686"/>
            <a:ext cx="5953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i="1" dirty="0"/>
              <a:t>Esce una pallina gialla</a:t>
            </a:r>
            <a:endParaRPr lang="en-CH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6B499FEF-B15D-FF58-8C7B-5118370E4BC3}"/>
                  </a:ext>
                </a:extLst>
              </p:cNvPr>
              <p:cNvSpPr txBox="1"/>
              <p:nvPr/>
            </p:nvSpPr>
            <p:spPr>
              <a:xfrm>
                <a:off x="323848" y="3214469"/>
                <a:ext cx="5953125" cy="666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𝐶𝑎𝑠𝑖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𝑓𝑎𝑣𝑜𝑟𝑒𝑣𝑜𝑙𝑖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𝐶𝑎𝑠𝑖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𝑝𝑜𝑠𝑠𝑖𝑏𝑖𝑙𝑖</m:t>
                          </m:r>
                        </m:den>
                      </m:f>
                    </m:oMath>
                  </m:oMathPara>
                </a14:m>
                <a:endParaRPr lang="en-CH" i="1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6B499FEF-B15D-FF58-8C7B-5118370E4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48" y="3214469"/>
                <a:ext cx="5953125" cy="6668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sellaDiTesto 6">
            <a:extLst>
              <a:ext uri="{FF2B5EF4-FFF2-40B4-BE49-F238E27FC236}">
                <a16:creationId xmlns:a16="http://schemas.microsoft.com/office/drawing/2014/main" id="{1B281F85-B982-FBAB-5646-916083C028E0}"/>
              </a:ext>
            </a:extLst>
          </p:cNvPr>
          <p:cNvSpPr txBox="1"/>
          <p:nvPr/>
        </p:nvSpPr>
        <p:spPr>
          <a:xfrm>
            <a:off x="471487" y="4537843"/>
            <a:ext cx="5915025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eriod" startAt="4"/>
            </a:pPr>
            <a:r>
              <a:rPr lang="it-IT" sz="1400" dirty="0"/>
              <a:t>Quale è la probabilità che esca una pallina gialla nella scatola scelta? Invece, quale è la probabilità che esca una pallina non gialla?</a:t>
            </a:r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r>
              <a:rPr lang="it-IT" sz="1400" dirty="0"/>
              <a:t>Aggiungi nella scatola scelta una pallina gialla e una pallina che non è gialla. Come è variata la probabilità di estrarre una pallina gialla?</a:t>
            </a:r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endParaRPr lang="it-IT" sz="1400" dirty="0"/>
          </a:p>
          <a:p>
            <a:pPr marL="342900" indent="-342900">
              <a:buFont typeface="+mj-lt"/>
              <a:buAutoNum type="alphaLcPeriod" startAt="4"/>
            </a:pPr>
            <a:r>
              <a:rPr lang="it-IT" sz="1400" dirty="0"/>
              <a:t>Aggiungi al sacchetto altre 5 palline gialle e 5 palline di colore diverso. Quante sono ora in totale le palline gialle? </a:t>
            </a:r>
            <a:br>
              <a:rPr lang="it-IT" sz="1400" dirty="0"/>
            </a:br>
            <a:r>
              <a:rPr lang="it-IT" sz="1400" dirty="0"/>
              <a:t>E quante quelle non gialle?</a:t>
            </a:r>
            <a:br>
              <a:rPr lang="it-IT" sz="1400" dirty="0"/>
            </a:br>
            <a:r>
              <a:rPr lang="it-IT" sz="1400" dirty="0"/>
              <a:t>Adesso qual è la probabilità di estrarre una pallina gialla?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4B3BBB6-94DD-A68C-7983-26670E79A7AE}"/>
              </a:ext>
            </a:extLst>
          </p:cNvPr>
          <p:cNvSpPr/>
          <p:nvPr/>
        </p:nvSpPr>
        <p:spPr>
          <a:xfrm>
            <a:off x="209550" y="298450"/>
            <a:ext cx="6286501" cy="39052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54129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48C43-DE46-E01A-39F9-2870B5188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A8570FF4-B0CC-A140-4CB1-409FA0EEB4E1}"/>
              </a:ext>
            </a:extLst>
          </p:cNvPr>
          <p:cNvSpPr txBox="1"/>
          <p:nvPr/>
        </p:nvSpPr>
        <p:spPr>
          <a:xfrm>
            <a:off x="471489" y="457968"/>
            <a:ext cx="423386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dirty="0"/>
              <a:t>Una roulette europea ha 37 numeri: da 0 a 36. I numeri da 1 a 36 sono equamente divisi tra rossi e neri (18 ciascuno), mentre lo 0 è verde</a:t>
            </a:r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 marL="342900" indent="-342900">
              <a:buFont typeface="+mj-lt"/>
              <a:buAutoNum type="alphaLcPeriod"/>
            </a:pPr>
            <a:r>
              <a:rPr lang="it-IT" sz="1400" dirty="0"/>
              <a:t>Qual è la probabilità che, con una singola giocata, esca un numero rosso?</a:t>
            </a:r>
          </a:p>
          <a:p>
            <a:pPr marL="342900" indent="-342900">
              <a:buAutoNum type="alphaLcPeriod"/>
            </a:pPr>
            <a:endParaRPr lang="it-IT" sz="1400" dirty="0"/>
          </a:p>
          <a:p>
            <a:pPr marL="342900" indent="-342900">
              <a:buAutoNum type="alphaLcPeriod"/>
            </a:pPr>
            <a:endParaRPr lang="it-IT" sz="1400" dirty="0"/>
          </a:p>
          <a:p>
            <a:pPr marL="342900" indent="-342900">
              <a:buAutoNum type="alphaLcPeriod"/>
            </a:pPr>
            <a:endParaRPr lang="it-IT" sz="1400" dirty="0"/>
          </a:p>
          <a:p>
            <a:pPr marL="342900" indent="-342900">
              <a:buAutoNum type="alphaLcPeriod"/>
            </a:pPr>
            <a:endParaRPr lang="it-IT" sz="1400" dirty="0"/>
          </a:p>
          <a:p>
            <a:pPr marL="342900" indent="-342900">
              <a:buAutoNum type="alphaLcPeriod"/>
            </a:pPr>
            <a:endParaRPr lang="it-IT" sz="1400" dirty="0"/>
          </a:p>
          <a:p>
            <a:pPr marL="342900" indent="-342900">
              <a:buAutoNum type="alphaLcPeriod"/>
            </a:pPr>
            <a:endParaRPr lang="it-IT" sz="1400" dirty="0"/>
          </a:p>
          <a:p>
            <a:pPr marL="342900" indent="-342900">
              <a:buAutoNum type="alphaLcPeriod"/>
            </a:pPr>
            <a:endParaRPr lang="it-IT" sz="1400" dirty="0"/>
          </a:p>
          <a:p>
            <a:pPr marL="342900" indent="-342900">
              <a:buAutoNum type="alphaLcPeriod"/>
            </a:pPr>
            <a:r>
              <a:rPr lang="it-IT" sz="1400" dirty="0"/>
              <a:t>Qual è la probabilità che esca un numero pari?</a:t>
            </a:r>
          </a:p>
          <a:p>
            <a:pPr marL="342900" indent="-342900">
              <a:buAutoNum type="alphaLcPeriod"/>
            </a:pPr>
            <a:endParaRPr lang="it-IT" sz="1400" dirty="0"/>
          </a:p>
          <a:p>
            <a:pPr marL="342900" indent="-342900">
              <a:buAutoNum type="alphaLcPeriod"/>
            </a:pPr>
            <a:endParaRPr lang="it-IT" sz="1400" dirty="0"/>
          </a:p>
          <a:p>
            <a:pPr marL="342900" indent="-342900">
              <a:buAutoNum type="alphaLcPeriod"/>
            </a:pPr>
            <a:endParaRPr lang="it-IT" sz="1400" dirty="0"/>
          </a:p>
          <a:p>
            <a:pPr marL="342900" indent="-342900">
              <a:buAutoNum type="alphaLcPeriod"/>
            </a:pPr>
            <a:endParaRPr lang="it-IT" sz="1400" dirty="0"/>
          </a:p>
          <a:p>
            <a:pPr marL="342900" indent="-342900">
              <a:buAutoNum type="alphaLcPeriod"/>
            </a:pPr>
            <a:endParaRPr lang="it-IT" sz="1400" dirty="0"/>
          </a:p>
          <a:p>
            <a:pPr marL="342900" indent="-342900">
              <a:buAutoNum type="alphaLcPeriod"/>
            </a:pPr>
            <a:endParaRPr lang="it-IT" sz="1400" dirty="0"/>
          </a:p>
          <a:p>
            <a:pPr>
              <a:buNone/>
            </a:pPr>
            <a:endParaRPr lang="it-IT" sz="14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5975514-DAC4-BB62-707C-85CEB0F4F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315" y="814151"/>
            <a:ext cx="1771897" cy="338184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F63BD7F-F599-BC6F-4111-5A722BF16FBE}"/>
              </a:ext>
            </a:extLst>
          </p:cNvPr>
          <p:cNvSpPr txBox="1"/>
          <p:nvPr/>
        </p:nvSpPr>
        <p:spPr>
          <a:xfrm>
            <a:off x="471488" y="4476899"/>
            <a:ext cx="6181723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endParaRPr lang="it-IT" sz="1800" dirty="0"/>
          </a:p>
          <a:p>
            <a:pPr marL="342900" indent="-342900">
              <a:buAutoNum type="arabicPeriod"/>
            </a:pPr>
            <a:endParaRPr lang="it-IT" sz="1800" dirty="0"/>
          </a:p>
          <a:p>
            <a:endParaRPr lang="it-IT" sz="1400" dirty="0"/>
          </a:p>
          <a:p>
            <a:pPr marL="342900" indent="-342900">
              <a:buFont typeface="+mj-lt"/>
              <a:buAutoNum type="alphaLcPeriod" startAt="3"/>
            </a:pPr>
            <a:r>
              <a:rPr lang="it-IT" sz="1400" dirty="0"/>
              <a:t>Qual è la probabilità che esca lo 0? </a:t>
            </a:r>
          </a:p>
          <a:p>
            <a:pPr marL="342900" indent="-342900">
              <a:buAutoNum type="alphaLcPeriod" startAt="3"/>
            </a:pPr>
            <a:endParaRPr lang="it-IT" sz="1400" dirty="0"/>
          </a:p>
          <a:p>
            <a:pPr marL="342900" indent="-342900">
              <a:buAutoNum type="alphaLcPeriod" startAt="3"/>
            </a:pPr>
            <a:endParaRPr lang="it-IT" sz="1400" dirty="0"/>
          </a:p>
          <a:p>
            <a:pPr marL="342900" indent="-342900">
              <a:buAutoNum type="alphaLcPeriod" startAt="3"/>
            </a:pPr>
            <a:endParaRPr lang="it-IT" sz="1400" dirty="0"/>
          </a:p>
          <a:p>
            <a:pPr marL="342900" indent="-342900">
              <a:buAutoNum type="alphaLcPeriod" startAt="3"/>
            </a:pPr>
            <a:endParaRPr lang="it-IT" sz="1400" dirty="0"/>
          </a:p>
          <a:p>
            <a:pPr marL="342900" indent="-342900">
              <a:buAutoNum type="alphaLcPeriod" startAt="3"/>
            </a:pPr>
            <a:endParaRPr lang="it-IT" sz="1400" dirty="0"/>
          </a:p>
          <a:p>
            <a:pPr marL="342900" indent="-342900">
              <a:buAutoNum type="alphaLcPeriod" startAt="3"/>
            </a:pPr>
            <a:endParaRPr lang="it-IT" sz="1400" dirty="0"/>
          </a:p>
          <a:p>
            <a:pPr marL="342900" indent="-342900">
              <a:buAutoNum type="alphaLcPeriod" startAt="3"/>
            </a:pPr>
            <a:endParaRPr lang="it-IT" sz="1400" dirty="0"/>
          </a:p>
          <a:p>
            <a:pPr marL="342900" indent="-342900">
              <a:buAutoNum type="alphaLcPeriod" startAt="3"/>
            </a:pPr>
            <a:r>
              <a:rPr lang="it-IT" sz="1400" dirty="0"/>
              <a:t>Se si punta su un singolo numero (ad esempio il 17), qual è la probabilità di vincere?</a:t>
            </a:r>
          </a:p>
          <a:p>
            <a:pPr marL="342900" indent="-342900">
              <a:buAutoNum type="alphaLcPeriod" startAt="3"/>
            </a:pPr>
            <a:endParaRPr lang="it-IT" sz="1400" dirty="0"/>
          </a:p>
          <a:p>
            <a:pPr marL="342900" indent="-342900">
              <a:buAutoNum type="alphaLcPeriod" startAt="3"/>
            </a:pPr>
            <a:endParaRPr lang="it-IT" sz="1400" dirty="0"/>
          </a:p>
          <a:p>
            <a:pPr marL="342900" indent="-342900">
              <a:buAutoNum type="alphaLcPeriod" startAt="3"/>
            </a:pPr>
            <a:endParaRPr lang="it-IT" sz="1400" dirty="0"/>
          </a:p>
          <a:p>
            <a:pPr marL="342900" indent="-342900">
              <a:buAutoNum type="alphaLcPeriod" startAt="3"/>
            </a:pPr>
            <a:endParaRPr lang="it-IT" sz="1400" dirty="0"/>
          </a:p>
          <a:p>
            <a:pPr marL="342900" indent="-342900">
              <a:buAutoNum type="alphaLcPeriod" startAt="3"/>
            </a:pPr>
            <a:endParaRPr lang="it-IT" sz="1400" dirty="0"/>
          </a:p>
          <a:p>
            <a:pPr marL="342900" indent="-342900">
              <a:buAutoNum type="alphaLcPeriod" startAt="3"/>
            </a:pPr>
            <a:endParaRPr lang="it-IT" sz="1400" dirty="0"/>
          </a:p>
          <a:p>
            <a:pPr marL="342900" indent="-342900">
              <a:buAutoNum type="alphaLcPeriod" startAt="3"/>
            </a:pPr>
            <a:endParaRPr lang="it-IT" sz="1400" dirty="0"/>
          </a:p>
          <a:p>
            <a:endParaRPr lang="it-IT" sz="1400" dirty="0"/>
          </a:p>
          <a:p>
            <a:pPr marL="342900" indent="-342900">
              <a:buFont typeface="+mj-lt"/>
              <a:buAutoNum type="alphaLcPeriod" startAt="5"/>
            </a:pPr>
            <a:r>
              <a:rPr lang="it-IT" sz="1400" dirty="0"/>
              <a:t>Qual è la probabilità che esca un numero compreso tra 1 e 12?</a:t>
            </a:r>
          </a:p>
          <a:p>
            <a:pPr>
              <a:buNone/>
            </a:pPr>
            <a:endParaRPr lang="it-IT" sz="1800" dirty="0"/>
          </a:p>
        </p:txBody>
      </p:sp>
      <p:sp>
        <p:nvSpPr>
          <p:cNvPr id="9" name="Connettore 8">
            <a:extLst>
              <a:ext uri="{FF2B5EF4-FFF2-40B4-BE49-F238E27FC236}">
                <a16:creationId xmlns:a16="http://schemas.microsoft.com/office/drawing/2014/main" id="{BA5B5A6A-FAC1-BDFE-B09B-A192C8CC0A89}"/>
              </a:ext>
            </a:extLst>
          </p:cNvPr>
          <p:cNvSpPr/>
          <p:nvPr/>
        </p:nvSpPr>
        <p:spPr>
          <a:xfrm>
            <a:off x="42863" y="366476"/>
            <a:ext cx="447675" cy="44767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</a:t>
            </a:r>
            <a:endParaRPr lang="en-CH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423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o 8">
            <a:extLst>
              <a:ext uri="{FF2B5EF4-FFF2-40B4-BE49-F238E27FC236}">
                <a16:creationId xmlns:a16="http://schemas.microsoft.com/office/drawing/2014/main" id="{00E8BD0C-0039-89F7-CE9A-4BC32387876C}"/>
              </a:ext>
            </a:extLst>
          </p:cNvPr>
          <p:cNvGrpSpPr/>
          <p:nvPr/>
        </p:nvGrpSpPr>
        <p:grpSpPr>
          <a:xfrm>
            <a:off x="-161925" y="93737"/>
            <a:ext cx="6858000" cy="5413224"/>
            <a:chOff x="0" y="474737"/>
            <a:chExt cx="6858000" cy="5413224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D3880A84-7207-F26E-C0F5-825AF2CB0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74738"/>
              <a:ext cx="6858000" cy="5413223"/>
            </a:xfrm>
            <a:prstGeom prst="rect">
              <a:avLst/>
            </a:prstGeom>
          </p:spPr>
        </p:pic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A74A4EFC-2962-E143-ADC2-E179062074B9}"/>
                </a:ext>
              </a:extLst>
            </p:cNvPr>
            <p:cNvSpPr/>
            <p:nvPr/>
          </p:nvSpPr>
          <p:spPr>
            <a:xfrm>
              <a:off x="133350" y="474738"/>
              <a:ext cx="1333500" cy="6587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6A406EFC-1FCD-8843-1199-27AD8DAD4247}"/>
                </a:ext>
              </a:extLst>
            </p:cNvPr>
            <p:cNvSpPr/>
            <p:nvPr/>
          </p:nvSpPr>
          <p:spPr>
            <a:xfrm>
              <a:off x="4895849" y="474737"/>
              <a:ext cx="1704975" cy="17776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" name="Connettore 5">
              <a:extLst>
                <a:ext uri="{FF2B5EF4-FFF2-40B4-BE49-F238E27FC236}">
                  <a16:creationId xmlns:a16="http://schemas.microsoft.com/office/drawing/2014/main" id="{9DC50BAB-9C42-5B54-89A9-C1935BF86F91}"/>
                </a:ext>
              </a:extLst>
            </p:cNvPr>
            <p:cNvSpPr/>
            <p:nvPr/>
          </p:nvSpPr>
          <p:spPr>
            <a:xfrm>
              <a:off x="681038" y="915906"/>
              <a:ext cx="447675" cy="447675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3</a:t>
              </a:r>
              <a:endParaRPr lang="en-CH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" name="Elemento grafico 10" descr="Goal calcio con riempimento a tinta unita">
            <a:extLst>
              <a:ext uri="{FF2B5EF4-FFF2-40B4-BE49-F238E27FC236}">
                <a16:creationId xmlns:a16="http://schemas.microsoft.com/office/drawing/2014/main" id="{D088C4AB-0EE7-E63E-CA39-50C9EB8A58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2061" y="7524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432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B2296-E657-92FA-87EB-DF0CA716A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9383E91-75D1-08D9-0632-0F6A871AB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9" y="89602"/>
            <a:ext cx="3286382" cy="180495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31D245C-F7A6-4979-575D-76A206F7FD3A}"/>
              </a:ext>
            </a:extLst>
          </p:cNvPr>
          <p:cNvSpPr txBox="1"/>
          <p:nvPr/>
        </p:nvSpPr>
        <p:spPr>
          <a:xfrm>
            <a:off x="471487" y="581793"/>
            <a:ext cx="3052763" cy="8494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dirty="0"/>
              <a:t>Immagina di lanciare due dadi a sei facce e di sommarne i risultati. Quale pensi che sia la somma più probabile?</a:t>
            </a:r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4D2A309-D585-7F9F-5BDE-FCF7750E2050}"/>
              </a:ext>
            </a:extLst>
          </p:cNvPr>
          <p:cNvSpPr txBox="1"/>
          <p:nvPr/>
        </p:nvSpPr>
        <p:spPr>
          <a:xfrm>
            <a:off x="471487" y="5657761"/>
            <a:ext cx="58197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/>
              <a:t>Se invece facessimo il prodotto? Quale sarebbe l’evento più probabile? Perché?</a:t>
            </a:r>
          </a:p>
        </p:txBody>
      </p:sp>
      <p:sp>
        <p:nvSpPr>
          <p:cNvPr id="9" name="Connettore 8">
            <a:extLst>
              <a:ext uri="{FF2B5EF4-FFF2-40B4-BE49-F238E27FC236}">
                <a16:creationId xmlns:a16="http://schemas.microsoft.com/office/drawing/2014/main" id="{B9460C30-B43C-6516-C1D6-E1E89104C3DA}"/>
              </a:ext>
            </a:extLst>
          </p:cNvPr>
          <p:cNvSpPr/>
          <p:nvPr/>
        </p:nvSpPr>
        <p:spPr>
          <a:xfrm>
            <a:off x="47625" y="544405"/>
            <a:ext cx="447675" cy="44767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</a:t>
            </a:r>
            <a:endParaRPr lang="en-CH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274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F6C58-10D6-94B3-1F53-06009165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5E81C6E-4B78-BDF6-8128-C841125DD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268009"/>
            <a:ext cx="6601746" cy="2810267"/>
          </a:xfrm>
          <a:prstGeom prst="rect">
            <a:avLst/>
          </a:prstGeom>
        </p:spPr>
      </p:pic>
      <p:sp>
        <p:nvSpPr>
          <p:cNvPr id="4" name="Connettore 3">
            <a:extLst>
              <a:ext uri="{FF2B5EF4-FFF2-40B4-BE49-F238E27FC236}">
                <a16:creationId xmlns:a16="http://schemas.microsoft.com/office/drawing/2014/main" id="{8037D25D-7D3A-04FA-380E-0F0BA246BC0E}"/>
              </a:ext>
            </a:extLst>
          </p:cNvPr>
          <p:cNvSpPr/>
          <p:nvPr/>
        </p:nvSpPr>
        <p:spPr>
          <a:xfrm>
            <a:off x="0" y="268009"/>
            <a:ext cx="447675" cy="44767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5</a:t>
            </a:r>
            <a:endParaRPr lang="en-CH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360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E78E8-CDAA-E05A-F15B-BD8FFCC88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63E86195-3BDF-DDBC-35CF-346FF16D8835}"/>
              </a:ext>
            </a:extLst>
          </p:cNvPr>
          <p:cNvSpPr txBox="1"/>
          <p:nvPr/>
        </p:nvSpPr>
        <p:spPr>
          <a:xfrm>
            <a:off x="471487" y="581793"/>
            <a:ext cx="5915025" cy="10433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dirty="0"/>
              <a:t>Ecco i risultati ottenuti da un tuo amico nei primi 12 lanci di una moneta:</a:t>
            </a:r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r>
              <a:rPr lang="it-IT" sz="1400" dirty="0"/>
              <a:t>Secondo te, quale risultato otterrà il tuo amico al tredicesimo lancio?</a:t>
            </a:r>
          </a:p>
          <a:p>
            <a:pPr>
              <a:buNone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pPr marL="342900" indent="-342900">
              <a:buFont typeface="+mj-lt"/>
              <a:buAutoNum type="arabicPeriod" startAt="2"/>
            </a:pPr>
            <a:endParaRPr lang="it-IT" sz="1400" dirty="0"/>
          </a:p>
          <a:p>
            <a:r>
              <a:rPr lang="it-IT" sz="1400" dirty="0"/>
              <a:t>Nel gioco dello Swiss lotto, si scelgono: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6 numeri tra 1 e 42.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Un «numero fortunato» tra 1 e 12.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r>
              <a:rPr lang="it-IT" sz="1400" dirty="0"/>
              <a:t>Quale tra le seguenti combinazioni giocheresti (A,B o C)? Perché? </a:t>
            </a:r>
          </a:p>
          <a:p>
            <a:endParaRPr lang="it-IT" sz="1400" dirty="0"/>
          </a:p>
          <a:p>
            <a:r>
              <a:rPr lang="it-IT" sz="1400" dirty="0"/>
              <a:t>A: 7 – 13 – 22 – 36 – 23 – 42</a:t>
            </a:r>
          </a:p>
          <a:p>
            <a:r>
              <a:rPr lang="it-IT" sz="1400" dirty="0"/>
              <a:t>B: 1 – 2 – 3 – 4 – 5 – 6</a:t>
            </a:r>
          </a:p>
          <a:p>
            <a:r>
              <a:rPr lang="it-IT" sz="1400" dirty="0"/>
              <a:t>C: 10 – 23 – 38 – 41 – 11 – 8</a:t>
            </a:r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  <a:p>
            <a:pPr>
              <a:buNone/>
            </a:pPr>
            <a:endParaRPr lang="it-IT" sz="140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E293761-F7CA-F3E1-9838-576B31489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456" y="1064273"/>
            <a:ext cx="2962688" cy="466790"/>
          </a:xfrm>
          <a:prstGeom prst="rect">
            <a:avLst/>
          </a:prstGeom>
        </p:spPr>
      </p:pic>
      <p:sp>
        <p:nvSpPr>
          <p:cNvPr id="11" name="Connettore 10">
            <a:extLst>
              <a:ext uri="{FF2B5EF4-FFF2-40B4-BE49-F238E27FC236}">
                <a16:creationId xmlns:a16="http://schemas.microsoft.com/office/drawing/2014/main" id="{EF44D26D-EBBE-C4F6-B84A-77013AE05928}"/>
              </a:ext>
            </a:extLst>
          </p:cNvPr>
          <p:cNvSpPr/>
          <p:nvPr/>
        </p:nvSpPr>
        <p:spPr>
          <a:xfrm>
            <a:off x="23812" y="506331"/>
            <a:ext cx="447675" cy="44767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6</a:t>
            </a:r>
            <a:endParaRPr lang="en-CH" dirty="0">
              <a:solidFill>
                <a:schemeClr val="tx1"/>
              </a:solidFill>
            </a:endParaRPr>
          </a:p>
        </p:txBody>
      </p:sp>
      <p:sp>
        <p:nvSpPr>
          <p:cNvPr id="12" name="Connettore 11">
            <a:extLst>
              <a:ext uri="{FF2B5EF4-FFF2-40B4-BE49-F238E27FC236}">
                <a16:creationId xmlns:a16="http://schemas.microsoft.com/office/drawing/2014/main" id="{0E9E125F-B199-875C-6EE5-EE6994525F65}"/>
              </a:ext>
            </a:extLst>
          </p:cNvPr>
          <p:cNvSpPr/>
          <p:nvPr/>
        </p:nvSpPr>
        <p:spPr>
          <a:xfrm>
            <a:off x="57150" y="5872162"/>
            <a:ext cx="447675" cy="44767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7</a:t>
            </a:r>
            <a:endParaRPr lang="en-CH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0150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855</TotalTime>
  <Words>445</Words>
  <Application>Microsoft Office PowerPoint</Application>
  <PresentationFormat>Widescreen</PresentationFormat>
  <Paragraphs>156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Dreaming Outloud Pro</vt:lpstr>
      <vt:lpstr>Tema di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Camilla Manca</dc:creator>
  <cp:lastModifiedBy>Camilla Manca</cp:lastModifiedBy>
  <cp:revision>2</cp:revision>
  <dcterms:created xsi:type="dcterms:W3CDTF">2025-05-23T08:29:58Z</dcterms:created>
  <dcterms:modified xsi:type="dcterms:W3CDTF">2026-05-05T10:52:04Z</dcterms:modified>
</cp:coreProperties>
</file>